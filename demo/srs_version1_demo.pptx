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4"/>
  </p:notesMasterIdLst>
  <p:handoutMasterIdLst>
    <p:handoutMasterId r:id="rId15"/>
  </p:handoutMasterIdLst>
  <p:sldIdLst>
    <p:sldId id="314" r:id="rId5"/>
    <p:sldId id="315" r:id="rId6"/>
    <p:sldId id="316" r:id="rId7"/>
    <p:sldId id="317" r:id="rId8"/>
    <p:sldId id="318" r:id="rId9"/>
    <p:sldId id="319" r:id="rId10"/>
    <p:sldId id="320" r:id="rId11"/>
    <p:sldId id="321" r:id="rId12"/>
    <p:sldId id="30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5388" autoAdjust="0"/>
  </p:normalViewPr>
  <p:slideViewPr>
    <p:cSldViewPr snapToGrid="0">
      <p:cViewPr>
        <p:scale>
          <a:sx n="100" d="100"/>
          <a:sy n="100" d="100"/>
        </p:scale>
        <p:origin x="-96" y="438"/>
      </p:cViewPr>
      <p:guideLst>
        <p:guide orient="horz" pos="3360"/>
        <p:guide pos="3840"/>
      </p:guideLst>
    </p:cSldViewPr>
  </p:slideViewPr>
  <p:outlineViewPr>
    <p:cViewPr>
      <p:scale>
        <a:sx n="33" d="100"/>
        <a:sy n="33" d="100"/>
      </p:scale>
      <p:origin x="0" y="-126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12/12/2025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12/12/2025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137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9693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5505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0335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2420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64728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1265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966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svg"/><Relationship Id="rId4" Type="http://schemas.openxmlformats.org/officeDocument/2006/relationships/image" Target="../media/image15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74996-9779-1D0F-B5C6-7FE85FFF1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773681"/>
            <a:ext cx="5674360" cy="3200400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6B97173-A601-1D66-1651-4FE0D76A0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454" t="1728"/>
          <a:stretch/>
        </p:blipFill>
        <p:spPr>
          <a:xfrm>
            <a:off x="-1" y="0"/>
            <a:ext cx="8264995" cy="532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47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0DFB311A-EAAD-7656-C753-E8C739948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4533" t="18691" r="1" b="-131"/>
          <a:stretch/>
        </p:blipFill>
        <p:spPr>
          <a:xfrm rot="5400000">
            <a:off x="7851419" y="-1244552"/>
            <a:ext cx="3096029" cy="5585137"/>
          </a:xfrm>
          <a:custGeom>
            <a:avLst/>
            <a:gdLst>
              <a:gd name="connsiteX0" fmla="*/ 0 w 1756624"/>
              <a:gd name="connsiteY0" fmla="*/ 0 h 6858000"/>
              <a:gd name="connsiteX1" fmla="*/ 1756624 w 1756624"/>
              <a:gd name="connsiteY1" fmla="*/ 0 h 6858000"/>
              <a:gd name="connsiteX2" fmla="*/ 1756624 w 1756624"/>
              <a:gd name="connsiteY2" fmla="*/ 6858000 h 6858000"/>
              <a:gd name="connsiteX3" fmla="*/ 0 w 175662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6624" h="6858000">
                <a:moveTo>
                  <a:pt x="0" y="0"/>
                </a:moveTo>
                <a:lnTo>
                  <a:pt x="1756624" y="0"/>
                </a:lnTo>
                <a:lnTo>
                  <a:pt x="17566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612F0DE-D367-10BB-1F71-60AA6527C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151" r="18577"/>
          <a:stretch/>
        </p:blipFill>
        <p:spPr>
          <a:xfrm>
            <a:off x="7010400" y="0"/>
            <a:ext cx="51816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4F5799-FC34-2F2D-D11E-9B472CAF06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315533"/>
            <a:ext cx="5181600" cy="237686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575025C-084B-CD7A-F546-0E13BA13CFE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400" y="2844800"/>
            <a:ext cx="5181600" cy="31289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2000"/>
            </a:lvl1pPr>
            <a:lvl2pPr>
              <a:lnSpc>
                <a:spcPct val="120000"/>
              </a:lnSpc>
              <a:defRPr sz="1800"/>
            </a:lvl2pPr>
            <a:lvl3pPr>
              <a:lnSpc>
                <a:spcPct val="120000"/>
              </a:lnSpc>
              <a:defRPr sz="1600"/>
            </a:lvl3pPr>
            <a:lvl4pPr>
              <a:lnSpc>
                <a:spcPct val="120000"/>
              </a:lnSpc>
              <a:defRPr sz="1400"/>
            </a:lvl4pPr>
            <a:lvl5pPr>
              <a:lnSpc>
                <a:spcPct val="120000"/>
              </a:lnSpc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750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B5DE041D-A3BF-94FF-029C-719D4DADA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3300" t="13815"/>
          <a:stretch/>
        </p:blipFill>
        <p:spPr>
          <a:xfrm>
            <a:off x="0" y="-1"/>
            <a:ext cx="4239206" cy="37761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EE605D-0584-F71C-A97D-B672F13E39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580640"/>
            <a:ext cx="5181600" cy="3368819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9AF635C-89E6-F6EF-FA6A-417A9A84BF4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85840" y="-10159"/>
            <a:ext cx="6116320" cy="6868160"/>
          </a:xfrm>
          <a:custGeom>
            <a:avLst/>
            <a:gdLst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0 w 6116320"/>
              <a:gd name="connsiteY3" fmla="*/ 6880225 h 6880225"/>
              <a:gd name="connsiteX4" fmla="*/ 0 w 6116320"/>
              <a:gd name="connsiteY4" fmla="*/ 0 h 6880225"/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2052320 w 6116320"/>
              <a:gd name="connsiteY3" fmla="*/ 6880225 h 6880225"/>
              <a:gd name="connsiteX4" fmla="*/ 0 w 6116320"/>
              <a:gd name="connsiteY4" fmla="*/ 0 h 688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16320" h="6880225">
                <a:moveTo>
                  <a:pt x="0" y="0"/>
                </a:moveTo>
                <a:lnTo>
                  <a:pt x="6116320" y="0"/>
                </a:lnTo>
                <a:lnTo>
                  <a:pt x="6116320" y="6880225"/>
                </a:lnTo>
                <a:lnTo>
                  <a:pt x="2052320" y="6880225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736789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2B74EE53-DB22-C27E-074F-A7129585F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158" t="-5374" b="78533"/>
          <a:stretch/>
        </p:blipFill>
        <p:spPr>
          <a:xfrm rot="10800000">
            <a:off x="6324600" y="0"/>
            <a:ext cx="5867400" cy="16473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8AEF0C-FA4B-8C23-0132-5529EC244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0" y="1310639"/>
            <a:ext cx="4805997" cy="2689629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3DD4867-9B0B-647C-1F78-5E50BF30F08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016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05384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405384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FF4D65D-965A-5E86-4D91-C72D1D03A8B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26163" y="4172990"/>
            <a:ext cx="4805997" cy="238973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6365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4C9F686-E069-3B60-9625-01EE6A41D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239"/>
          <a:stretch/>
        </p:blipFill>
        <p:spPr>
          <a:xfrm flipH="1">
            <a:off x="9135414" y="0"/>
            <a:ext cx="3056586" cy="6858000"/>
          </a:xfrm>
          <a:custGeom>
            <a:avLst/>
            <a:gdLst>
              <a:gd name="connsiteX0" fmla="*/ 4284372 w 4284372"/>
              <a:gd name="connsiteY0" fmla="*/ 0 h 6858000"/>
              <a:gd name="connsiteX1" fmla="*/ 0 w 4284372"/>
              <a:gd name="connsiteY1" fmla="*/ 0 h 6858000"/>
              <a:gd name="connsiteX2" fmla="*/ 0 w 4284372"/>
              <a:gd name="connsiteY2" fmla="*/ 6858000 h 6858000"/>
              <a:gd name="connsiteX3" fmla="*/ 4284372 w 428437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84372" h="6858000">
                <a:moveTo>
                  <a:pt x="4284372" y="0"/>
                </a:moveTo>
                <a:lnTo>
                  <a:pt x="0" y="0"/>
                </a:lnTo>
                <a:lnTo>
                  <a:pt x="0" y="6858000"/>
                </a:lnTo>
                <a:lnTo>
                  <a:pt x="4284372" y="6858000"/>
                </a:lnTo>
                <a:close/>
              </a:path>
            </a:pathLst>
          </a:cu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D7227F9-50F9-820B-69B7-924C02120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2330"/>
          <a:stretch/>
        </p:blipFill>
        <p:spPr>
          <a:xfrm>
            <a:off x="7810500" y="3025140"/>
            <a:ext cx="4381500" cy="38328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8D1E69-316E-A8E1-7ADA-040A0E4907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7273637" cy="164655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1069CA0-E0AB-99C6-10DB-13AAC019DD7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11363"/>
            <a:ext cx="7273638" cy="4155757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213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left Imag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4589277D-BC14-E7E0-5822-5575F563E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8039100" y="228600"/>
            <a:ext cx="4381500" cy="3924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DB1BDE-C8F3-ACC0-740B-CBD812877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75285"/>
            <a:ext cx="4896678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28597A3-47D0-F393-55D9-07FFD951F39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586 w 6096586"/>
              <a:gd name="connsiteY0" fmla="*/ 0 h 6858000"/>
              <a:gd name="connsiteX1" fmla="*/ 4054426 w 6096586"/>
              <a:gd name="connsiteY1" fmla="*/ 0 h 6858000"/>
              <a:gd name="connsiteX2" fmla="*/ 6096586 w 6096586"/>
              <a:gd name="connsiteY2" fmla="*/ 6858000 h 6858000"/>
              <a:gd name="connsiteX3" fmla="*/ 586 w 6096586"/>
              <a:gd name="connsiteY3" fmla="*/ 6858000 h 6858000"/>
              <a:gd name="connsiteX4" fmla="*/ 586 w 6096586"/>
              <a:gd name="connsiteY4" fmla="*/ 3669792 h 6858000"/>
              <a:gd name="connsiteX5" fmla="*/ 586 w 6096586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4053840" y="0"/>
                </a:lnTo>
                <a:lnTo>
                  <a:pt x="6096000" y="6858000"/>
                </a:lnTo>
                <a:lnTo>
                  <a:pt x="950976" y="6858000"/>
                </a:lnTo>
                <a:lnTo>
                  <a:pt x="0" y="3669792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4BF260CE-C6E3-AE7A-DB8E-A72A1CF5B54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0" y="4172990"/>
            <a:ext cx="4896677" cy="2309726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9111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6E20435-B9A5-359D-133D-5D3EED409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55" t="41988" r="53993" b="33420"/>
          <a:stretch/>
        </p:blipFill>
        <p:spPr>
          <a:xfrm rot="10800000">
            <a:off x="9198864" y="-5"/>
            <a:ext cx="2993136" cy="151790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B99CAE4-AA9B-52BA-7DE8-8245CE705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5445" t="24819" r="46503"/>
          <a:stretch/>
        </p:blipFill>
        <p:spPr>
          <a:xfrm rot="16200000">
            <a:off x="961221" y="4525179"/>
            <a:ext cx="1371600" cy="3294042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28DFE681-710B-6FE5-B8E0-3BC9DB9F12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1" cy="1629601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FE383D3-6A16-1891-FF52-470B26B9404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74B5EB04-CA6E-7417-56DF-A55B21E94B7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84891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792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A783FA55-EF1D-66CF-8FD5-29086D71E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81" t="40714" r="61027" b="44471"/>
          <a:stretch/>
        </p:blipFill>
        <p:spPr>
          <a:xfrm rot="10800000" flipV="1">
            <a:off x="-26830" y="5950040"/>
            <a:ext cx="2513521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542CEFED-8DE0-0155-A5B6-A44051A6D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57FC493E-284F-ADBA-D92D-883CAB13AD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8" y="365125"/>
            <a:ext cx="10439401" cy="161701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B8B2035-4AA9-D25E-9F15-3ED36F734D1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31012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>
              <a:spcBef>
                <a:spcPts val="0"/>
              </a:spcBef>
              <a:spcAft>
                <a:spcPts val="1200"/>
              </a:spcAft>
              <a:defRPr sz="1800" b="1"/>
            </a:lvl2pPr>
            <a:lvl3pPr>
              <a:spcBef>
                <a:spcPts val="0"/>
              </a:spcBef>
              <a:spcAft>
                <a:spcPts val="1200"/>
              </a:spcAft>
              <a:defRPr sz="1600" b="1"/>
            </a:lvl3pPr>
            <a:lvl4pPr>
              <a:spcBef>
                <a:spcPts val="0"/>
              </a:spcBef>
              <a:spcAft>
                <a:spcPts val="1200"/>
              </a:spcAft>
              <a:defRPr sz="1400" b="1"/>
            </a:lvl4pPr>
            <a:lvl5pPr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6A694422-6B3E-3D80-AC41-FD1CED52ACA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02310" y="2018120"/>
            <a:ext cx="675148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813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right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48DBD2A1-633E-7A22-751B-5CEFCA93F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7703" t="485" b="67543"/>
          <a:stretch/>
        </p:blipFill>
        <p:spPr>
          <a:xfrm rot="5400000">
            <a:off x="-115162" y="115164"/>
            <a:ext cx="1895058" cy="166473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3E7BF4D0-D641-9859-157D-B9094EF3D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385" y="446313"/>
            <a:ext cx="5179615" cy="144874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115AE488-757F-4C5A-7733-85C1D1EA98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5181600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9DD264F-42B5-DBB0-9839-DB4C6827ED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76950" y="0"/>
            <a:ext cx="6115050" cy="6868886"/>
          </a:xfrm>
          <a:custGeom>
            <a:avLst/>
            <a:gdLst>
              <a:gd name="connsiteX0" fmla="*/ 0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0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2024742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3603171 h 6858000"/>
              <a:gd name="connsiteX3" fmla="*/ 6115050 w 6115050"/>
              <a:gd name="connsiteY3" fmla="*/ 6858000 h 6858000"/>
              <a:gd name="connsiteX4" fmla="*/ 0 w 6115050"/>
              <a:gd name="connsiteY4" fmla="*/ 6858000 h 6858000"/>
              <a:gd name="connsiteX5" fmla="*/ 2024742 w 6115050"/>
              <a:gd name="connsiteY5" fmla="*/ 0 h 6858000"/>
              <a:gd name="connsiteX0" fmla="*/ 2024742 w 6115050"/>
              <a:gd name="connsiteY0" fmla="*/ 0 h 6868886"/>
              <a:gd name="connsiteX1" fmla="*/ 6115050 w 6115050"/>
              <a:gd name="connsiteY1" fmla="*/ 0 h 6868886"/>
              <a:gd name="connsiteX2" fmla="*/ 6115050 w 6115050"/>
              <a:gd name="connsiteY2" fmla="*/ 3603171 h 6868886"/>
              <a:gd name="connsiteX3" fmla="*/ 5157107 w 6115050"/>
              <a:gd name="connsiteY3" fmla="*/ 6868886 h 6868886"/>
              <a:gd name="connsiteX4" fmla="*/ 0 w 6115050"/>
              <a:gd name="connsiteY4" fmla="*/ 6858000 h 6868886"/>
              <a:gd name="connsiteX5" fmla="*/ 2024742 w 6115050"/>
              <a:gd name="connsiteY5" fmla="*/ 0 h 686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15050" h="6868886">
                <a:moveTo>
                  <a:pt x="2024742" y="0"/>
                </a:moveTo>
                <a:lnTo>
                  <a:pt x="6115050" y="0"/>
                </a:lnTo>
                <a:lnTo>
                  <a:pt x="6115050" y="3603171"/>
                </a:lnTo>
                <a:lnTo>
                  <a:pt x="5157107" y="6868886"/>
                </a:lnTo>
                <a:lnTo>
                  <a:pt x="0" y="6858000"/>
                </a:lnTo>
                <a:lnTo>
                  <a:pt x="2024742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00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E5D17C7-3503-7305-8191-20863B738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824" b="26760"/>
          <a:stretch/>
        </p:blipFill>
        <p:spPr>
          <a:xfrm>
            <a:off x="9229725" y="1835240"/>
            <a:ext cx="2962275" cy="502276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76E1AE6-3E01-1CBD-CAEC-11056D00A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3413" y="1835240"/>
            <a:ext cx="7000875" cy="42798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E28F03-2149-7C50-779B-6A2D8D789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0903" r="75060" b="10347"/>
          <a:stretch/>
        </p:blipFill>
        <p:spPr>
          <a:xfrm rot="16200000">
            <a:off x="149650" y="-149653"/>
            <a:ext cx="1672375" cy="197167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CA4CAE4E-4252-8471-C50B-1DD5AFBFE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2" cy="1603462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493CE42-5465-91AC-A1F4-A4821AE37A9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299013" cy="391491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156A00B1-F3E3-B7FF-58F4-61DE3EF07C07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4602163" y="2017713"/>
            <a:ext cx="6675437" cy="3932237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214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3A42171-0D82-07BF-4667-498861CC2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34408" r="46636" b="1"/>
          <a:stretch/>
        </p:blipFill>
        <p:spPr>
          <a:xfrm flipH="1" flipV="1">
            <a:off x="10506072" y="3984078"/>
            <a:ext cx="1685928" cy="287392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3C71A0D-EE6D-54C4-71DE-04BE28558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718" t="47145" r="39389" b="8754"/>
          <a:stretch/>
        </p:blipFill>
        <p:spPr>
          <a:xfrm rot="5400000" flipV="1">
            <a:off x="9781526" y="-311511"/>
            <a:ext cx="2098964" cy="272198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3F82FA92-501B-5A05-E15F-2FB9BCEBE3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1990" y="434225"/>
            <a:ext cx="9524998" cy="149962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463EEE0-BE31-122C-586C-8BA8D90371E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6257366" cy="391491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 b="0"/>
            </a:lvl1pPr>
            <a:lvl2pPr marL="228600">
              <a:spcBef>
                <a:spcPts val="0"/>
              </a:spcBef>
              <a:spcAft>
                <a:spcPts val="1200"/>
              </a:spcAft>
              <a:defRPr sz="2000" b="0"/>
            </a:lvl2pPr>
            <a:lvl3pPr marL="685800">
              <a:spcBef>
                <a:spcPts val="0"/>
              </a:spcBef>
              <a:spcAft>
                <a:spcPts val="1200"/>
              </a:spcAft>
              <a:defRPr sz="1800" b="0"/>
            </a:lvl3pPr>
            <a:lvl4pPr marL="914400">
              <a:spcBef>
                <a:spcPts val="0"/>
              </a:spcBef>
              <a:spcAft>
                <a:spcPts val="1200"/>
              </a:spcAft>
              <a:defRPr sz="1600" b="0"/>
            </a:lvl4pPr>
            <a:lvl5pPr marL="1143000">
              <a:spcBef>
                <a:spcPts val="0"/>
              </a:spcBef>
              <a:spcAft>
                <a:spcPts val="1200"/>
              </a:spcAft>
              <a:defRPr sz="16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2C157D5-2C68-BA6A-033B-A4CC016CA68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967475" y="2018119"/>
            <a:ext cx="2449514" cy="3931919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 marL="411480">
              <a:spcBef>
                <a:spcPts val="0"/>
              </a:spcBef>
              <a:spcAft>
                <a:spcPts val="1200"/>
              </a:spcAft>
              <a:defRPr sz="1800" b="1"/>
            </a:lvl2pPr>
            <a:lvl3pPr marL="502920">
              <a:spcBef>
                <a:spcPts val="0"/>
              </a:spcBef>
              <a:spcAft>
                <a:spcPts val="1200"/>
              </a:spcAft>
              <a:defRPr sz="1600" b="1"/>
            </a:lvl3pPr>
            <a:lvl4pPr marL="594360">
              <a:spcBef>
                <a:spcPts val="0"/>
              </a:spcBef>
              <a:spcAft>
                <a:spcPts val="1200"/>
              </a:spcAft>
              <a:defRPr sz="1400" b="1"/>
            </a:lvl4pPr>
            <a:lvl5pPr marL="685800"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842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15CC9A46-E0E7-B31D-3E27-6F4303A45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767669DC-4C7F-9B50-FCC0-F2AF5B2A9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3545" y="584477"/>
            <a:ext cx="10354052" cy="120976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BEF581C2-7562-2E21-E6DD-20AEFC43AABC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23545" y="2009775"/>
            <a:ext cx="10354052" cy="393192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842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3A3E8B6-2BD8-19E0-7F51-7A25EF836F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1515" y="374090"/>
            <a:ext cx="5057104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1F96043-F6A4-F581-7DB8-96138F0E401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1514" y="4172989"/>
            <a:ext cx="5057103" cy="2519363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  <a:lvl2pPr marL="7429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aseline="0">
                <a:solidFill>
                  <a:schemeClr val="bg1"/>
                </a:solidFill>
              </a:defRPr>
            </a:lvl2pPr>
            <a:lvl3pPr marL="12001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aseline="0">
                <a:solidFill>
                  <a:schemeClr val="bg1"/>
                </a:solidFill>
              </a:defRPr>
            </a:lvl3pPr>
            <a:lvl4pPr marL="16573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 baseline="0">
                <a:solidFill>
                  <a:schemeClr val="bg1"/>
                </a:solidFill>
              </a:defRPr>
            </a:lvl4pPr>
            <a:lvl5pPr marL="2000250" indent="-1714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805DE67-EFB0-F6F3-6C08-2FE90284C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347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06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40D96-BFFB-05BD-30ED-0352500CD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9100" y="2773681"/>
            <a:ext cx="7541260" cy="3200400"/>
          </a:xfrm>
        </p:spPr>
        <p:txBody>
          <a:bodyPr/>
          <a:lstStyle/>
          <a:p>
            <a:r>
              <a:rPr lang="en-US" dirty="0"/>
              <a:t>Car Rent &amp; Tour Provider</a:t>
            </a:r>
          </a:p>
        </p:txBody>
      </p:sp>
    </p:spTree>
    <p:extLst>
      <p:ext uri="{BB962C8B-B14F-4D97-AF65-F5344CB8AC3E}">
        <p14:creationId xmlns:p14="http://schemas.microsoft.com/office/powerpoint/2010/main" val="2945390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474D05E-8A36-8D9F-519E-DB514A69D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15533"/>
            <a:ext cx="5181600" cy="2376868"/>
          </a:xfrm>
        </p:spPr>
        <p:txBody>
          <a:bodyPr/>
          <a:lstStyle/>
          <a:p>
            <a:r>
              <a:rPr lang="en-US" dirty="0"/>
              <a:t>Business Overview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0C1E08-E337-110E-DB8E-41BA4A3341A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844800"/>
            <a:ext cx="5181600" cy="31289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</a:t>
            </a:r>
            <a:r>
              <a:rPr lang="en-US" b="1" dirty="0"/>
              <a:t>Car Rent and Tour Provider in Ethiopia</a:t>
            </a:r>
            <a:r>
              <a:rPr lang="en-US" dirty="0"/>
              <a:t> is an information-based travel support platform designed to help both local and international travelers plan their trips efficiently and confidently. The system focuses on providing </a:t>
            </a:r>
            <a:r>
              <a:rPr lang="en-US" b="1" dirty="0"/>
              <a:t>reliable car rental information, destination guidance, and nearby hotel recommendations</a:t>
            </a:r>
            <a:r>
              <a:rPr lang="en-US" dirty="0"/>
              <a:t>, rather than online booking or payment.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255621-1D81-03E6-507B-CB20E07035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059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6FD5F-786B-1974-5F47-94CA02CFA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828" y="490584"/>
            <a:ext cx="5181600" cy="1256574"/>
          </a:xfrm>
        </p:spPr>
        <p:txBody>
          <a:bodyPr/>
          <a:lstStyle/>
          <a:p>
            <a:r>
              <a:rPr lang="en-US" dirty="0"/>
              <a:t>key feature</a:t>
            </a:r>
          </a:p>
        </p:txBody>
      </p:sp>
      <p:pic>
        <p:nvPicPr>
          <p:cNvPr id="14" name="Picture Placeholder 13" descr="A person looking at a piece of paper">
            <a:extLst>
              <a:ext uri="{FF2B5EF4-FFF2-40B4-BE49-F238E27FC236}">
                <a16:creationId xmlns:a16="http://schemas.microsoft.com/office/drawing/2014/main" id="{F28819F3-7D3B-EB42-24FD-3C0BBC5963B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119" b="119"/>
          <a:stretch/>
        </p:blipFill>
        <p:spPr>
          <a:xfrm>
            <a:off x="6085840" y="-10159"/>
            <a:ext cx="6116320" cy="686816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F39BB87-7B64-3FE9-BB29-42218E7CA64D}"/>
              </a:ext>
            </a:extLst>
          </p:cNvPr>
          <p:cNvSpPr txBox="1"/>
          <p:nvPr/>
        </p:nvSpPr>
        <p:spPr>
          <a:xfrm>
            <a:off x="1811383" y="2481943"/>
            <a:ext cx="39449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2"/>
                </a:solidFill>
              </a:rPr>
              <a:t>Nearby hotels and lodges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2"/>
                </a:solidFill>
              </a:rPr>
              <a:t>Short descriptions of services offered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2"/>
                </a:solidFill>
              </a:rPr>
              <a:t>Approximate price ranges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2"/>
                </a:solidFill>
              </a:rPr>
              <a:t>Location context and travel notes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AE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3742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DD59383-E6CD-CF57-B9CF-5820B1CEC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0" y="1310639"/>
            <a:ext cx="4805997" cy="2689629"/>
          </a:xfrm>
        </p:spPr>
        <p:txBody>
          <a:bodyPr/>
          <a:lstStyle/>
          <a:p>
            <a:r>
              <a:rPr lang="en-US" dirty="0"/>
              <a:t>Target Users</a:t>
            </a:r>
          </a:p>
        </p:txBody>
      </p:sp>
      <p:pic>
        <p:nvPicPr>
          <p:cNvPr id="5" name="Picture Placeholder 4" descr="A person smelling a small glass bottle">
            <a:extLst>
              <a:ext uri="{FF2B5EF4-FFF2-40B4-BE49-F238E27FC236}">
                <a16:creationId xmlns:a16="http://schemas.microsoft.com/office/drawing/2014/main" id="{95D91661-037A-ECB3-7904-2C3843A98D95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20394" r="20394"/>
          <a:stretch/>
        </p:blipFill>
        <p:spPr>
          <a:xfrm>
            <a:off x="0" y="-10160"/>
            <a:ext cx="6096000" cy="6858000"/>
          </a:xfr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672BC8-D7EC-066C-9025-5F29713D849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126163" y="4172990"/>
            <a:ext cx="4805997" cy="2389736"/>
          </a:xfrm>
        </p:spPr>
        <p:txBody>
          <a:bodyPr/>
          <a:lstStyle/>
          <a:p>
            <a:r>
              <a:rPr lang="en-US" b="1" dirty="0"/>
              <a:t>local and international travelers</a:t>
            </a:r>
            <a:r>
              <a:rPr lang="en-US" dirty="0"/>
              <a:t> who need reliable transportation and travel information within Ethiopia. </a:t>
            </a:r>
          </a:p>
          <a:p>
            <a:r>
              <a:rPr lang="en-US" dirty="0"/>
              <a:t>This includes </a:t>
            </a:r>
            <a:r>
              <a:rPr lang="en-US" b="1" dirty="0"/>
              <a:t>tourists visiting major destinations</a:t>
            </a:r>
            <a:r>
              <a:rPr lang="en-US" dirty="0"/>
              <a:t>, </a:t>
            </a:r>
            <a:r>
              <a:rPr lang="en-US" b="1" dirty="0"/>
              <a:t>business travelers</a:t>
            </a:r>
            <a:r>
              <a:rPr lang="en-US" dirty="0"/>
              <a:t>, and </a:t>
            </a:r>
            <a:r>
              <a:rPr lang="en-US" b="1" dirty="0"/>
              <a:t>local residents</a:t>
            </a:r>
            <a:r>
              <a:rPr lang="en-US" dirty="0"/>
              <a:t> planning short or long-distance trips.</a:t>
            </a:r>
          </a:p>
        </p:txBody>
      </p:sp>
    </p:spTree>
    <p:extLst>
      <p:ext uri="{BB962C8B-B14F-4D97-AF65-F5344CB8AC3E}">
        <p14:creationId xmlns:p14="http://schemas.microsoft.com/office/powerpoint/2010/main" val="56176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E4F0B-A6EB-861C-1C34-CAA9BDE47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User Journey Example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97739-E0DF-24F3-7886-013A799A52C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Bole International Airport → Entoto Park</a:t>
            </a:r>
          </a:p>
          <a:p>
            <a:r>
              <a:rPr lang="en-US" dirty="0"/>
              <a:t>Destinations → Hotels → Contact</a:t>
            </a:r>
          </a:p>
          <a:p>
            <a:pPr marL="2286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2000" cap="none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E0D061-7327-A55C-AF6A-A95C24DD8B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000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08221-C29B-07A3-B569-B8B466B10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75285"/>
            <a:ext cx="4896678" cy="3624984"/>
          </a:xfrm>
        </p:spPr>
        <p:txBody>
          <a:bodyPr/>
          <a:lstStyle/>
          <a:p>
            <a:r>
              <a:rPr lang="en-US" dirty="0"/>
              <a:t>Destination Explorer Concept</a:t>
            </a:r>
          </a:p>
        </p:txBody>
      </p:sp>
      <p:pic>
        <p:nvPicPr>
          <p:cNvPr id="5" name="Picture Placeholder 4" descr="A person standing in a greenhouse">
            <a:extLst>
              <a:ext uri="{FF2B5EF4-FFF2-40B4-BE49-F238E27FC236}">
                <a16:creationId xmlns:a16="http://schemas.microsoft.com/office/drawing/2014/main" id="{EE30546E-D63D-6DD8-4DA7-41DD51A44C2F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t="12487" b="12487"/>
          <a:stretch/>
        </p:blipFill>
        <p:spPr>
          <a:xfrm>
            <a:off x="0" y="0"/>
            <a:ext cx="6096000" cy="6858000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EA7D4-8B96-5A0E-252E-6B8E8B1CF17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096000" y="4172990"/>
            <a:ext cx="4896677" cy="2309726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dirty="0"/>
              <a:t>Tourist sites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dirty="0"/>
              <a:t>Nearby hotels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dirty="0"/>
              <a:t>Distance &amp; price range</a:t>
            </a:r>
          </a:p>
        </p:txBody>
      </p:sp>
    </p:spTree>
    <p:extLst>
      <p:ext uri="{BB962C8B-B14F-4D97-AF65-F5344CB8AC3E}">
        <p14:creationId xmlns:p14="http://schemas.microsoft.com/office/powerpoint/2010/main" val="1760417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2D586-3F7C-3202-E4F4-1F65B9A7D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10363201" cy="1629601"/>
          </a:xfrm>
        </p:spPr>
        <p:txBody>
          <a:bodyPr/>
          <a:lstStyle/>
          <a:p>
            <a:r>
              <a:rPr lang="en-US" dirty="0"/>
              <a:t>SRC Documentation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DADF2-8E4D-6C0E-0FA2-C5228AF29C1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22250"/>
            <a:ext cx="4992709" cy="3747180"/>
          </a:xfrm>
        </p:spPr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Hotel information structure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Car information structure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Admin-managed content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FADA2D-CE7A-511E-45B9-EAF4FA520E3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84891" y="2022250"/>
            <a:ext cx="4992709" cy="3747180"/>
          </a:xfrm>
        </p:spPr>
        <p:txBody>
          <a:bodyPr/>
          <a:lstStyle/>
          <a:p>
            <a:endParaRPr lang="en-US" noProof="1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4FFC83-A1E8-FCEA-2C47-38C5ADAEA1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8" name="Picture 7" descr="A computer screen shot of a black screen&#10;&#10;AI-generated content may be incorrect.">
            <a:extLst>
              <a:ext uri="{FF2B5EF4-FFF2-40B4-BE49-F238E27FC236}">
                <a16:creationId xmlns:a16="http://schemas.microsoft.com/office/drawing/2014/main" id="{58A3453D-558F-D1F6-A8A0-FB7E3E360A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4475" y="1540330"/>
            <a:ext cx="5953125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4034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355EB-DDCF-B1AD-F18C-3AE0157A7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580640"/>
            <a:ext cx="5181600" cy="3368819"/>
          </a:xfrm>
        </p:spPr>
        <p:txBody>
          <a:bodyPr anchor="b">
            <a:normAutofit/>
          </a:bodyPr>
          <a:lstStyle/>
          <a:p>
            <a:r>
              <a:rPr lang="en-AE"/>
              <a:t>Section header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BEF66B0-26BE-3876-3858-68A2E94E1E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156" r="22751" b="-1"/>
          <a:stretch>
            <a:fillRect/>
          </a:stretch>
        </p:blipFill>
        <p:spPr>
          <a:xfrm>
            <a:off x="6085840" y="-10159"/>
            <a:ext cx="6116320" cy="6868160"/>
          </a:xfrm>
          <a:custGeom>
            <a:avLst/>
            <a:gdLst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0 w 6116320"/>
              <a:gd name="connsiteY3" fmla="*/ 6880225 h 6880225"/>
              <a:gd name="connsiteX4" fmla="*/ 0 w 6116320"/>
              <a:gd name="connsiteY4" fmla="*/ 0 h 6880225"/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2052320 w 6116320"/>
              <a:gd name="connsiteY3" fmla="*/ 6880225 h 6880225"/>
              <a:gd name="connsiteX4" fmla="*/ 0 w 6116320"/>
              <a:gd name="connsiteY4" fmla="*/ 0 h 688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16320" h="6880225">
                <a:moveTo>
                  <a:pt x="0" y="0"/>
                </a:moveTo>
                <a:lnTo>
                  <a:pt x="6116320" y="0"/>
                </a:lnTo>
                <a:lnTo>
                  <a:pt x="6116320" y="6880225"/>
                </a:lnTo>
                <a:lnTo>
                  <a:pt x="2052320" y="6880225"/>
                </a:lnTo>
                <a:lnTo>
                  <a:pt x="0" y="0"/>
                </a:lnTo>
                <a:close/>
              </a:path>
            </a:pathLst>
          </a:custGeom>
          <a:noFill/>
        </p:spPr>
      </p:pic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BCD521C9-288C-E858-6E7D-A1C2CFEB163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pic>
        <p:nvPicPr>
          <p:cNvPr id="9" name="Picture 8" descr="A diagram of a hotel&#10;&#10;AI-generated content may be incorrect.">
            <a:extLst>
              <a:ext uri="{FF2B5EF4-FFF2-40B4-BE49-F238E27FC236}">
                <a16:creationId xmlns:a16="http://schemas.microsoft.com/office/drawing/2014/main" id="{F3F68D6B-9A1D-36EF-0A60-6126AFF92D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949714"/>
            <a:ext cx="11430000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7458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77B52831-0916-294C-0ACB-9774B9805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E82E216E-9EE0-9D3F-D692-083F575A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1515" y="374090"/>
            <a:ext cx="5057104" cy="3624984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F398FDD-E639-CF6A-B875-443655F2B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1514" y="4172989"/>
            <a:ext cx="5057103" cy="2519363"/>
          </a:xfrm>
        </p:spPr>
        <p:txBody>
          <a:bodyPr/>
          <a:lstStyle/>
          <a:p>
            <a:r>
              <a:rPr lang="en-US" dirty="0"/>
              <a:t>Brita Tamm</a:t>
            </a:r>
          </a:p>
          <a:p>
            <a:r>
              <a:rPr lang="en-US" dirty="0"/>
              <a:t>502-555-0152</a:t>
            </a:r>
          </a:p>
          <a:p>
            <a:r>
              <a:rPr lang="en-US" dirty="0"/>
              <a:t>brita@firstupconsultants.com</a:t>
            </a:r>
          </a:p>
          <a:p>
            <a:r>
              <a:rPr lang="en-US" dirty="0"/>
              <a:t>www.firstupconsultants.com</a:t>
            </a:r>
          </a:p>
        </p:txBody>
      </p:sp>
    </p:spTree>
    <p:extLst>
      <p:ext uri="{BB962C8B-B14F-4D97-AF65-F5344CB8AC3E}">
        <p14:creationId xmlns:p14="http://schemas.microsoft.com/office/powerpoint/2010/main" val="76993264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22318419_win32_SL_V9" id="{8502042B-488E-4F33-AD20-77B40A1BC1AA}" vid="{A90C26AF-23CA-48C5-BFF9-84DC7B1C91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B045227-5724-4DBF-9712-031B1BFB2C3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B7B39BD0-040C-43BE-B0E4-512B09E8003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22457D9-12AC-4794-A05E-F1B90FCD8D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{F4230254-20DA-4B9F-A371-24CCA72FD158}TF44172dc5-d19e-4d2a-aaf3-e2c69a283fd81f4275d0_win32-950e754c5494</Template>
  <TotalTime>72</TotalTime>
  <Words>179</Words>
  <Application>Microsoft Office PowerPoint</Application>
  <PresentationFormat>Widescreen</PresentationFormat>
  <Paragraphs>40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Tenorite</vt:lpstr>
      <vt:lpstr>Wingdings</vt:lpstr>
      <vt:lpstr>Custom</vt:lpstr>
      <vt:lpstr>Car Rent &amp; Tour Provider</vt:lpstr>
      <vt:lpstr>Business Overview</vt:lpstr>
      <vt:lpstr>key feature</vt:lpstr>
      <vt:lpstr>Target Users</vt:lpstr>
      <vt:lpstr>User Journey Example</vt:lpstr>
      <vt:lpstr>Destination Explorer Concept</vt:lpstr>
      <vt:lpstr>SRC Documentation</vt:lpstr>
      <vt:lpstr>Section header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Yisak Metaferiya</dc:creator>
  <cp:lastModifiedBy>Yisak Metaferiya</cp:lastModifiedBy>
  <cp:revision>1</cp:revision>
  <dcterms:created xsi:type="dcterms:W3CDTF">2025-12-11T23:03:46Z</dcterms:created>
  <dcterms:modified xsi:type="dcterms:W3CDTF">2025-12-12T00:16:12Z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